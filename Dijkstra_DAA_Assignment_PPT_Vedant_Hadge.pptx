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713232"/>
            <a:ext cx="365760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 i="0">
                <a:solidFill>
                  <a:srgbClr val="3FD8EE"/>
                </a:solidFill>
                <a:latin typeface="Aptos"/>
              </a:defRPr>
            </a:pPr>
            <a:r>
              <a:t>DAA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585216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4200" b="1" i="0">
                <a:solidFill>
                  <a:srgbClr val="F1F7FF"/>
                </a:solidFill>
                <a:latin typeface="Aptos"/>
              </a:defRPr>
            </a:pPr>
            <a:r>
              <a:t>Dijkstra’s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2194560"/>
            <a:ext cx="649224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900" b="1" i="0">
                <a:solidFill>
                  <a:srgbClr val="3FD8EE"/>
                </a:solidFill>
                <a:latin typeface="Aptos"/>
              </a:defRPr>
            </a:pPr>
            <a:r>
              <a:t>Shortest Path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99232"/>
            <a:ext cx="585216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800" b="0" i="0">
                <a:solidFill>
                  <a:srgbClr val="A7BBD3"/>
                </a:solidFill>
                <a:latin typeface="Aptos"/>
              </a:defRPr>
            </a:pPr>
            <a:r>
              <a:t>A greedy approach to finding minimum-cost paths in weighted graphs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297680"/>
            <a:ext cx="3977639" cy="68580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71416"/>
            <a:ext cx="3611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 i="0">
                <a:solidFill>
                  <a:srgbClr val="F1F7FF"/>
                </a:solidFill>
                <a:latin typeface="Aptos"/>
              </a:defRPr>
            </a:pPr>
            <a:r>
              <a:t>Course: Design and Analysis of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96128"/>
            <a:ext cx="539496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50" b="0" i="0">
                <a:solidFill>
                  <a:srgbClr val="ADBED7"/>
                </a:solidFill>
                <a:latin typeface="Aptos"/>
              </a:defRPr>
            </a:pPr>
            <a:r>
              <a:t>Presented by: Vedant Hadge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50">
                <a:solidFill>
                  <a:srgbClr val="ADBED7"/>
                </a:solidFill>
                <a:latin typeface="Aptos"/>
              </a:defRPr>
            </a:pPr>
            <a:r>
              <a:t>PRN: 25070521037  |  Section: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543800" y="2286000"/>
            <a:ext cx="1234440" cy="114300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932420" y="2519172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0708" y="2528315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3800" y="3429000"/>
            <a:ext cx="1234440" cy="105156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86700" y="3982211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4988" y="399135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2286000"/>
            <a:ext cx="0" cy="219456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796528" y="324612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14816" y="325526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2286000"/>
            <a:ext cx="1417320" cy="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04020" y="1938528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2308" y="1947672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778240" y="2286000"/>
            <a:ext cx="1417320" cy="219456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49740" y="306324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8028" y="307238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8778240" y="3840480"/>
            <a:ext cx="1965960" cy="64008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578340" y="420624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6628" y="421538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195560" y="2286000"/>
            <a:ext cx="548640" cy="1554480"/>
          </a:xfrm>
          <a:prstGeom prst="line">
            <a:avLst/>
          </a:prstGeom>
          <a:ln w="21590">
            <a:solidFill>
              <a:srgbClr val="315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488168" y="2907792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06456" y="291693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7246620" y="313182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1F7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2" name="Oval 31"/>
          <p:cNvSpPr/>
          <p:nvPr/>
        </p:nvSpPr>
        <p:spPr>
          <a:xfrm>
            <a:off x="8481060" y="1988819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1F7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3" name="Oval 32"/>
          <p:cNvSpPr/>
          <p:nvPr/>
        </p:nvSpPr>
        <p:spPr>
          <a:xfrm>
            <a:off x="8481060" y="418338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1F7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4" name="Oval 33"/>
          <p:cNvSpPr/>
          <p:nvPr/>
        </p:nvSpPr>
        <p:spPr>
          <a:xfrm>
            <a:off x="9898380" y="1988819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1F7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5" name="Oval 34"/>
          <p:cNvSpPr/>
          <p:nvPr/>
        </p:nvSpPr>
        <p:spPr>
          <a:xfrm>
            <a:off x="10447020" y="354330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700" b="1">
                <a:solidFill>
                  <a:srgbClr val="F1F7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What Is Dijkstra’s Algorithm?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The goal: find minimum-cost paths from one source vertex.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3327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100" b="1" i="0">
                <a:solidFill>
                  <a:srgbClr val="F1F7FF"/>
                </a:solidFill>
                <a:latin typeface="Aptos"/>
              </a:defRPr>
            </a:pPr>
            <a:r>
              <a:t>Dijkstra’s algorithm is a greedy algorithm that computes shortest paths from a source in a weighted graph with non-negative edge weights.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71800"/>
            <a:ext cx="3246120" cy="157276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18688"/>
            <a:ext cx="2880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3FD8EE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2788920" cy="7040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500" b="0" i="0">
                <a:solidFill>
                  <a:srgbClr val="F1F7FF"/>
                </a:solidFill>
                <a:latin typeface="Aptos"/>
              </a:defRPr>
            </a:pPr>
            <a:r>
              <a:t>A weighted graph and a source vertex.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2971800"/>
            <a:ext cx="3246120" cy="157276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FF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218688"/>
            <a:ext cx="2880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GREEDY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611880"/>
            <a:ext cx="2788920" cy="7040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500" b="0" i="0">
                <a:solidFill>
                  <a:srgbClr val="F1F7FF"/>
                </a:solidFill>
                <a:latin typeface="Aptos"/>
              </a:defRPr>
            </a:pPr>
            <a:r>
              <a:t>Repeatedly select the unvisited vertex with the smallest tentative distance.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971800"/>
            <a:ext cx="3246120" cy="157276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3218688"/>
            <a:ext cx="2880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2788920" cy="7040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500" b="0" i="0">
                <a:solidFill>
                  <a:srgbClr val="F1F7FF"/>
                </a:solidFill>
                <a:latin typeface="Aptos"/>
              </a:defRPr>
            </a:pPr>
            <a:r>
              <a:t>The shortest distance to every reachable vertex, plus paths if predecessors are stored.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5074920"/>
            <a:ext cx="10332720" cy="694944"/>
          </a:xfrm>
          <a:prstGeom prst="roundRect">
            <a:avLst/>
          </a:prstGeom>
          <a:solidFill>
            <a:srgbClr val="0E1B30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285232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 i="0">
                <a:solidFill>
                  <a:srgbClr val="FFC755"/>
                </a:solidFill>
                <a:latin typeface="Aptos"/>
              </a:defRPr>
            </a:pPr>
            <a:r>
              <a:t>Key limitation: edge weights must be non-negative.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61888"/>
            <a:ext cx="10241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1">
                <a:solidFill>
                  <a:srgbClr val="A7BBD3"/>
                </a:solidFill>
                <a:latin typeface="Aptos"/>
              </a:defRPr>
            </a:pPr>
            <a:r>
              <a:t>It minimizes total weight—not necessarily the number of edges.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Graph &amp; Problem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Find the shortest path from source A to every other vertex.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03 / 08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417320" y="2148840"/>
            <a:ext cx="2240280" cy="128016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08860" y="2450591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7148" y="2459735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7320" y="3429000"/>
            <a:ext cx="2240280" cy="118872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63139" y="4050791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1427" y="405993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148840"/>
            <a:ext cx="0" cy="246888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75887" y="324612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325526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0" y="2148840"/>
            <a:ext cx="2743200" cy="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46320" y="1801368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810512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57600" y="2148840"/>
            <a:ext cx="2743200" cy="246888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92040" y="306324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307238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657600" y="3794760"/>
            <a:ext cx="5166360" cy="82296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57900" y="4251959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6188" y="426110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0" y="2148840"/>
            <a:ext cx="2423160" cy="1645920"/>
          </a:xfrm>
          <a:prstGeom prst="line">
            <a:avLst/>
          </a:prstGeom>
          <a:ln w="25400">
            <a:solidFill>
              <a:srgbClr val="395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30668" y="2816352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48956" y="282549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1120140" y="3131820"/>
            <a:ext cx="594360" cy="594360"/>
          </a:xfrm>
          <a:prstGeom prst="ellipse">
            <a:avLst/>
          </a:prstGeom>
          <a:solidFill>
            <a:srgbClr val="123948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1F7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3360420" y="185166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1F7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3360420" y="432054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1F7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6103620" y="185166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1F7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8526780" y="3497580"/>
            <a:ext cx="594360" cy="594360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F1F7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057400"/>
            <a:ext cx="2011680" cy="256032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82912" y="2286000"/>
            <a:ext cx="1600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 i="0">
                <a:solidFill>
                  <a:srgbClr val="3FD8EE"/>
                </a:solidFill>
                <a:latin typeface="Aptos"/>
              </a:defRPr>
            </a:pPr>
            <a:r>
              <a:t>GRAPH FACTS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82912" y="2724912"/>
            <a:ext cx="160020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0" i="0">
                <a:solidFill>
                  <a:srgbClr val="F1F7FF"/>
                </a:solidFill>
                <a:latin typeface="Aptos"/>
              </a:defRPr>
            </a:pPr>
            <a:r>
              <a:t>5 vertices</a:t>
            </a:r>
            <a:br/>
            <a:r>
              <a:t>7 undirected edges</a:t>
            </a:r>
            <a:br/>
            <a:r>
              <a:t>Source: A</a:t>
            </a:r>
            <a:br/>
            <a:r>
              <a:t>All weights ≥ 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846320"/>
            <a:ext cx="14630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 i="0">
                <a:solidFill>
                  <a:srgbClr val="A7BBD3"/>
                </a:solidFill>
                <a:latin typeface="Aptos"/>
              </a:defRPr>
            </a:pPr>
            <a:r>
              <a:t>Edge weights: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5129784"/>
            <a:ext cx="1874519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 i="0">
                <a:solidFill>
                  <a:srgbClr val="F1F7FF"/>
                </a:solidFill>
                <a:latin typeface="Aptos"/>
              </a:defRPr>
            </a:pPr>
            <a:r>
              <a:t>A–B 4  ·  A–C 2  ·  B–C 1</a:t>
            </a:r>
            <a:br/>
            <a:r>
              <a:t>B–D 5  ·  C–D 8  ·  C–E 10</a:t>
            </a:r>
            <a:br/>
            <a:r>
              <a:t>D–E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Algorithm &amp; Pseudocode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Greedy selection + edge relaxation.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19072"/>
            <a:ext cx="3749039" cy="434340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47672"/>
            <a:ext cx="3200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 i="0">
                <a:solidFill>
                  <a:srgbClr val="3FD8EE"/>
                </a:solidFill>
                <a:latin typeface="Aptos"/>
              </a:defRPr>
            </a:pPr>
            <a:r>
              <a:t>CORE STEPS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350008"/>
            <a:ext cx="329184" cy="329184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FD8E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2395728"/>
            <a:ext cx="26974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F1F7FF"/>
                </a:solidFill>
                <a:latin typeface="Aptos"/>
              </a:defRPr>
            </a:pPr>
            <a:r>
              <a:t>Initialize dist[A] = 0; others = ∞.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008375"/>
            <a:ext cx="329184" cy="329184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FD8E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3054096"/>
            <a:ext cx="26974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F1F7FF"/>
                </a:solidFill>
                <a:latin typeface="Aptos"/>
              </a:defRPr>
            </a:pPr>
            <a:r>
              <a:t>Choose the unvisited vertex u with minimum dist[u].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666744"/>
            <a:ext cx="329184" cy="329184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FD8E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3712464"/>
            <a:ext cx="26974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F1F7FF"/>
                </a:solidFill>
                <a:latin typeface="Aptos"/>
              </a:defRPr>
            </a:pPr>
            <a:r>
              <a:t>Mark u as visited.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325112"/>
            <a:ext cx="329184" cy="329184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FD8E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904" y="4370832"/>
            <a:ext cx="26974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F1F7FF"/>
                </a:solidFill>
                <a:latin typeface="Aptos"/>
              </a:defRPr>
            </a:pPr>
            <a:r>
              <a:t>For each neighbor v, test dist[u] + w(u,v).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4983480"/>
            <a:ext cx="329184" cy="329184"/>
          </a:xfrm>
          <a:prstGeom prst="ellipse">
            <a:avLst/>
          </a:prstGeom>
          <a:solidFill>
            <a:srgbClr val="0E1B30"/>
          </a:solidFill>
          <a:ln w="254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100" b="1">
                <a:solidFill>
                  <a:srgbClr val="3FD8E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5029200"/>
            <a:ext cx="26974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F1F7FF"/>
                </a:solidFill>
                <a:latin typeface="Aptos"/>
              </a:defRPr>
            </a:pPr>
            <a:r>
              <a:t>If smaller, update dist[v]. Repeat.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5623560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 i="0">
                <a:solidFill>
                  <a:srgbClr val="FFC755"/>
                </a:solidFill>
                <a:latin typeface="Aptos"/>
              </a:defRPr>
            </a:pPr>
            <a:r>
              <a:t>Relaxation means improving a known distance when a cheaper route is found.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1719072"/>
            <a:ext cx="6629400" cy="4343400"/>
          </a:xfrm>
          <a:prstGeom prst="roundRect">
            <a:avLst/>
          </a:prstGeom>
          <a:solidFill>
            <a:srgbClr val="0B1627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947672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 i="0">
                <a:solidFill>
                  <a:srgbClr val="3FD8EE"/>
                </a:solidFill>
                <a:latin typeface="Aptos"/>
              </a:defRPr>
            </a:pPr>
            <a:r>
              <a:t>PSEUDOCODE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350008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dist[v] = ∞ for all vertices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2660903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dist[source] =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6632" y="2971800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repeat at most |V| times: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6632" y="3282696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    u = unvisited vertex with minimum dist[u]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3593591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4DE0A3"/>
                </a:solidFill>
                <a:latin typeface="Aptos Mono"/>
              </a:defRPr>
            </a:pPr>
            <a:r>
              <a:t>    if dist[u] = ∞: stop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56632" y="3904487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    mark u as visited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4215383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    for each unvisited neighbor v of u: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526280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        candidate = dist[u] + w(u, v)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4837176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4DE0A3"/>
                </a:solidFill>
                <a:latin typeface="Aptos Mono"/>
              </a:defRPr>
            </a:pPr>
            <a:r>
              <a:t>        if candidate &lt; dist[v]: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5148072"/>
            <a:ext cx="5943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1F7FF"/>
                </a:solidFill>
                <a:latin typeface="Aptos Mono"/>
              </a:defRPr>
            </a:pPr>
            <a:r>
              <a:t>            dist[v] = candidate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5687568"/>
            <a:ext cx="56692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 i="0">
                <a:solidFill>
                  <a:srgbClr val="FFC755"/>
                </a:solidFill>
                <a:latin typeface="Aptos"/>
              </a:defRPr>
            </a:pPr>
            <a:r>
              <a:t>Assumes all edge weights are non-negative.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Step-by-Step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Tentative distance updates from source 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05 / 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1783080"/>
          <a:ext cx="934516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2240280"/>
                <a:gridCol w="1124712"/>
                <a:gridCol w="1124712"/>
                <a:gridCol w="1124712"/>
                <a:gridCol w="1124712"/>
                <a:gridCol w="1124712"/>
              </a:tblGrid>
              <a:tr h="496388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Selected vertex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9101F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 marL="54864" marR="54864" marT="32004" marB="32004" anchor="ctr">
                    <a:solidFill>
                      <a:srgbClr val="3FD8E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Initial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A (0)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∞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C (2)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B (3)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D (8)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2004" marB="32004" anchor="ctr">
                    <a:solidFill>
                      <a:srgbClr val="13223A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E (10)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1F7FF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32004" marB="32004" anchor="ctr">
                    <a:solidFill>
                      <a:srgbClr val="0D192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468112"/>
            <a:ext cx="10607040" cy="640080"/>
          </a:xfrm>
          <a:prstGeom prst="roundRect">
            <a:avLst/>
          </a:prstGeom>
          <a:solidFill>
            <a:srgbClr val="0E1B30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5641848"/>
            <a:ext cx="10195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 i="0">
                <a:solidFill>
                  <a:srgbClr val="4DE0A3"/>
                </a:solidFill>
                <a:latin typeface="Aptos"/>
              </a:defRPr>
            </a:pPr>
            <a:r>
              <a:t>Why updates happen: 2 + 1 = 3 improves B; 3 + 5 = 8 improves D; 8 + 2 = 10 improves 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Final Shortest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The minimum-cost route from A to 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06 / 08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325880" y="2194560"/>
            <a:ext cx="2331720" cy="1353312"/>
          </a:xfrm>
          <a:prstGeom prst="line">
            <a:avLst/>
          </a:prstGeom>
          <a:ln w="17780">
            <a:solidFill>
              <a:srgbClr val="2A4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3140" y="2532887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1428" y="2542031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A7BBD3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3547872"/>
            <a:ext cx="2331720" cy="1252728"/>
          </a:xfrm>
          <a:prstGeom prst="line">
            <a:avLst/>
          </a:prstGeom>
          <a:ln w="44450">
            <a:solidFill>
              <a:srgbClr val="4DE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17420" y="4201667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35708" y="4210812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194560"/>
            <a:ext cx="0" cy="2606040"/>
          </a:xfrm>
          <a:prstGeom prst="line">
            <a:avLst/>
          </a:prstGeom>
          <a:ln w="44450">
            <a:solidFill>
              <a:srgbClr val="4DE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75887" y="336042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94176" y="336956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0" y="2194560"/>
            <a:ext cx="2834640" cy="0"/>
          </a:xfrm>
          <a:prstGeom prst="line">
            <a:avLst/>
          </a:prstGeom>
          <a:ln w="44450">
            <a:solidFill>
              <a:srgbClr val="4DE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892040" y="1847088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1856231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57600" y="2194560"/>
            <a:ext cx="2834640" cy="2606040"/>
          </a:xfrm>
          <a:prstGeom prst="line">
            <a:avLst/>
          </a:prstGeom>
          <a:ln w="17780">
            <a:solidFill>
              <a:srgbClr val="2A4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37759" y="317754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318668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A7BBD3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657600" y="3886200"/>
            <a:ext cx="5212080" cy="914400"/>
          </a:xfrm>
          <a:prstGeom prst="line">
            <a:avLst/>
          </a:prstGeom>
          <a:ln w="17780">
            <a:solidFill>
              <a:srgbClr val="2A42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080759" y="4389120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439826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A7BBD3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92240" y="2194560"/>
            <a:ext cx="2377440" cy="1691640"/>
          </a:xfrm>
          <a:prstGeom prst="line">
            <a:avLst/>
          </a:prstGeom>
          <a:ln w="44450">
            <a:solidFill>
              <a:srgbClr val="4DE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99248" y="2884932"/>
            <a:ext cx="365760" cy="256032"/>
          </a:xfrm>
          <a:prstGeom prst="roundRect">
            <a:avLst/>
          </a:prstGeom>
          <a:solidFill>
            <a:srgbClr val="09101F"/>
          </a:solidFill>
          <a:ln w="12700">
            <a:solidFill>
              <a:srgbClr val="0910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289407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Oval 29"/>
          <p:cNvSpPr/>
          <p:nvPr/>
        </p:nvSpPr>
        <p:spPr>
          <a:xfrm>
            <a:off x="1005840" y="3227832"/>
            <a:ext cx="640080" cy="640080"/>
          </a:xfrm>
          <a:prstGeom prst="ellipse">
            <a:avLst/>
          </a:prstGeom>
          <a:solidFill>
            <a:srgbClr val="114044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900" b="1">
                <a:solidFill>
                  <a:srgbClr val="F1F7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1" name="Oval 30"/>
          <p:cNvSpPr/>
          <p:nvPr/>
        </p:nvSpPr>
        <p:spPr>
          <a:xfrm>
            <a:off x="3337560" y="1874519"/>
            <a:ext cx="640080" cy="640080"/>
          </a:xfrm>
          <a:prstGeom prst="ellipse">
            <a:avLst/>
          </a:prstGeom>
          <a:solidFill>
            <a:srgbClr val="114044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900" b="1">
                <a:solidFill>
                  <a:srgbClr val="F1F7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32" name="Oval 31"/>
          <p:cNvSpPr/>
          <p:nvPr/>
        </p:nvSpPr>
        <p:spPr>
          <a:xfrm>
            <a:off x="3337560" y="4480560"/>
            <a:ext cx="640080" cy="640080"/>
          </a:xfrm>
          <a:prstGeom prst="ellipse">
            <a:avLst/>
          </a:prstGeom>
          <a:solidFill>
            <a:srgbClr val="114044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900" b="1">
                <a:solidFill>
                  <a:srgbClr val="F1F7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6172200" y="1874519"/>
            <a:ext cx="640080" cy="640080"/>
          </a:xfrm>
          <a:prstGeom prst="ellipse">
            <a:avLst/>
          </a:prstGeom>
          <a:solidFill>
            <a:srgbClr val="114044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900" b="1">
                <a:solidFill>
                  <a:srgbClr val="F1F7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4" name="Oval 33"/>
          <p:cNvSpPr/>
          <p:nvPr/>
        </p:nvSpPr>
        <p:spPr>
          <a:xfrm>
            <a:off x="8549640" y="3566160"/>
            <a:ext cx="640080" cy="640080"/>
          </a:xfrm>
          <a:prstGeom prst="ellipse">
            <a:avLst/>
          </a:prstGeom>
          <a:solidFill>
            <a:srgbClr val="114044"/>
          </a:solidFill>
          <a:ln w="254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900" b="1">
                <a:solidFill>
                  <a:srgbClr val="F1F7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057400"/>
            <a:ext cx="2057400" cy="306324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3768" y="2359152"/>
            <a:ext cx="16916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 i="0">
                <a:solidFill>
                  <a:srgbClr val="4DE0A3"/>
                </a:solidFill>
                <a:latin typeface="Aptos"/>
              </a:defRPr>
            </a:pPr>
            <a:r>
              <a:t>SHORTEST 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28048" y="2852928"/>
            <a:ext cx="1737360" cy="9326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900" b="1" i="0">
                <a:solidFill>
                  <a:srgbClr val="F1F7FF"/>
                </a:solidFill>
                <a:latin typeface="Aptos"/>
              </a:defRPr>
            </a:pPr>
            <a:r>
              <a:t>A → C → B</a:t>
            </a:r>
            <a:br/>
            <a:r>
              <a:t>→ D → 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37192" y="4005072"/>
            <a:ext cx="171907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 i="0">
                <a:solidFill>
                  <a:srgbClr val="FFC755"/>
                </a:solidFill>
                <a:latin typeface="Aptos"/>
              </a:defRPr>
            </a:pPr>
            <a:r>
              <a:t>2 + 1 + 5 + 2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37192" y="4480560"/>
            <a:ext cx="17190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000" b="1" i="0">
                <a:solidFill>
                  <a:srgbClr val="4DE0A3"/>
                </a:solidFill>
                <a:latin typeface="Aptos"/>
              </a:defRPr>
            </a:pPr>
            <a:r>
              <a:t>TOTAL =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806440"/>
            <a:ext cx="9784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 i="0">
                <a:solidFill>
                  <a:srgbClr val="F1F7FF"/>
                </a:solidFill>
                <a:latin typeface="Aptos"/>
              </a:defRPr>
            </a:pPr>
            <a:r>
              <a:t>Final shortest distances: A=0, B=3, C=2, D=8, E=10.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Time &amp; Space Complexity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Runtime depends on the graph representation and data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828800"/>
            <a:ext cx="5074920" cy="219456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21408"/>
            <a:ext cx="45262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 i="0">
                <a:solidFill>
                  <a:srgbClr val="3FD8EE"/>
                </a:solidFill>
                <a:latin typeface="Aptos"/>
              </a:defRPr>
            </a:pPr>
            <a:r>
              <a:t>ADJACENCY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33472"/>
            <a:ext cx="452628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3200" b="1" i="0">
                <a:solidFill>
                  <a:srgbClr val="F1F7FF"/>
                </a:solidFill>
                <a:latin typeface="Aptos"/>
              </a:defRPr>
            </a:pPr>
            <a:r>
              <a:t>O(V²)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337560"/>
            <a:ext cx="4251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 i="0">
                <a:solidFill>
                  <a:srgbClr val="A7BBD3"/>
                </a:solidFill>
                <a:latin typeface="Aptos"/>
              </a:defRPr>
            </a:pPr>
            <a:r>
              <a:t>Simple implementation; scans vertices to find the next minimum.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28800"/>
            <a:ext cx="5074920" cy="219456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121408"/>
            <a:ext cx="45720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ADJACENCY LIST + BINARY MIN-HEAP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633472"/>
            <a:ext cx="4572000" cy="6217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 i="0">
                <a:solidFill>
                  <a:srgbClr val="F1F7FF"/>
                </a:solidFill>
                <a:latin typeface="Aptos"/>
              </a:defRPr>
            </a:pPr>
            <a:r>
              <a:t>O((V + E) log 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337560"/>
            <a:ext cx="431596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 i="0">
                <a:solidFill>
                  <a:srgbClr val="A7BBD3"/>
                </a:solidFill>
                <a:latin typeface="Aptos"/>
              </a:defRPr>
            </a:pPr>
            <a:r>
              <a:t>Typically efficient for sparse 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62272"/>
            <a:ext cx="10378440" cy="1143000"/>
          </a:xfrm>
          <a:prstGeom prst="roundRect">
            <a:avLst/>
          </a:prstGeom>
          <a:solidFill>
            <a:srgbClr val="0E1B30"/>
          </a:solidFill>
          <a:ln w="12700">
            <a:solidFill>
              <a:srgbClr val="395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681728"/>
            <a:ext cx="1965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 i="0">
                <a:solidFill>
                  <a:srgbClr val="3FD8EE"/>
                </a:solidFill>
                <a:latin typeface="Aptos"/>
              </a:defRPr>
            </a:pPr>
            <a:r>
              <a:t>SPACE COMPLEXITY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663440"/>
            <a:ext cx="5669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 i="0">
                <a:solidFill>
                  <a:srgbClr val="F1F7FF"/>
                </a:solidFill>
                <a:latin typeface="Aptos"/>
              </a:defRPr>
            </a:pPr>
            <a:r>
              <a:t>Matrix: O(V²)     |     Adjacency list: O(V + 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138928"/>
            <a:ext cx="9738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FFC755"/>
                </a:solidFill>
                <a:latin typeface="Aptos"/>
              </a:defRPr>
            </a:pPr>
            <a:r>
              <a:t>Important: Dijkstra’s algorithm does not guarantee correct results when negative edge weights are present.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68912" y="0"/>
            <a:ext cx="256032" cy="6858000"/>
          </a:xfrm>
          <a:prstGeom prst="rect">
            <a:avLst/>
          </a:prstGeom>
          <a:solidFill>
            <a:srgbClr val="0E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700" b="1" i="0">
                <a:solidFill>
                  <a:srgbClr val="F1F7FF"/>
                </a:solidFill>
                <a:latin typeface="Aptos"/>
              </a:defRPr>
            </a:pPr>
            <a:r>
              <a:t>Applications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777240" cy="50292"/>
          </a:xfrm>
          <a:prstGeom prst="roundRect">
            <a:avLst/>
          </a:prstGeom>
          <a:solidFill>
            <a:srgbClr val="3F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6984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 i="0">
                <a:solidFill>
                  <a:srgbClr val="A7BBD3"/>
                </a:solidFill>
                <a:latin typeface="Aptos"/>
              </a:defRPr>
            </a:pPr>
            <a:r>
              <a:t>Where shortest-path algorithms are useful.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464808"/>
            <a:ext cx="10927080" cy="10972"/>
          </a:xfrm>
          <a:prstGeom prst="rect">
            <a:avLst/>
          </a:prstGeom>
          <a:solidFill>
            <a:srgbClr val="395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6528816"/>
            <a:ext cx="5029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 i="0">
                <a:solidFill>
                  <a:srgbClr val="9BB1CD"/>
                </a:solidFill>
                <a:latin typeface="Aptos"/>
              </a:defRPr>
            </a:pPr>
            <a:r>
              <a:t>Generated using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6768" y="6510528"/>
            <a:ext cx="6858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 i="0">
                <a:solidFill>
                  <a:srgbClr val="3FD8EE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1965960"/>
            <a:ext cx="3246120" cy="15544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3F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49424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3FD8EE"/>
                </a:solidFill>
                <a:latin typeface="Aptos"/>
              </a:defRPr>
            </a:pPr>
            <a:r>
              <a:t>GPS &amp;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688336"/>
            <a:ext cx="274320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0" i="0">
                <a:solidFill>
                  <a:srgbClr val="F1F7FF"/>
                </a:solidFill>
                <a:latin typeface="Aptos"/>
              </a:defRPr>
            </a:pPr>
            <a:r>
              <a:t>Find low-cost routes between locations.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965960"/>
            <a:ext cx="3246120" cy="15544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FFC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249424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FFC755"/>
                </a:solidFill>
                <a:latin typeface="Aptos"/>
              </a:defRPr>
            </a:pPr>
            <a:r>
              <a:t>NETWORK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688336"/>
            <a:ext cx="274320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0" i="0">
                <a:solidFill>
                  <a:srgbClr val="F1F7FF"/>
                </a:solidFill>
                <a:latin typeface="Aptos"/>
              </a:defRPr>
            </a:pPr>
            <a:r>
              <a:t>Choose efficient routes for data packets.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11312" y="1965960"/>
            <a:ext cx="3246120" cy="15544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2249424"/>
            <a:ext cx="2880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688336"/>
            <a:ext cx="274320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0" i="0">
                <a:solidFill>
                  <a:srgbClr val="F1F7FF"/>
                </a:solidFill>
                <a:latin typeface="Aptos"/>
              </a:defRPr>
            </a:pPr>
            <a:r>
              <a:t>Plan paths through a mapped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069080"/>
            <a:ext cx="10195560" cy="1234440"/>
          </a:xfrm>
          <a:prstGeom prst="roundRect">
            <a:avLst/>
          </a:prstGeom>
          <a:solidFill>
            <a:srgbClr val="0E1B30"/>
          </a:solidFill>
          <a:ln w="12700">
            <a:solidFill>
              <a:srgbClr val="4DE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8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 i="0">
                <a:solidFill>
                  <a:srgbClr val="4DE0A3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251960"/>
            <a:ext cx="76352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700" b="1" i="0">
                <a:solidFill>
                  <a:srgbClr val="F1F7FF"/>
                </a:solidFill>
                <a:latin typeface="Aptos"/>
              </a:defRPr>
            </a:pPr>
            <a:r>
              <a:t>Repeatedly select the nearest unvisited vertex and relax its edges to find shortest paths.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5623560"/>
            <a:ext cx="32918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400" b="1" i="0">
                <a:solidFill>
                  <a:srgbClr val="3FD8E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5696712"/>
            <a:ext cx="1554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 i="0">
                <a:solidFill>
                  <a:srgbClr val="A7BBD3"/>
                </a:solidFill>
                <a:latin typeface="Apto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Shortest Path Algorithm — DAA Assignment</dc:title>
  <dc:subject>Design and Analysis of Algorithms</dc:subject>
  <dc:creator>OpenAI</dc:creator>
  <cp:keywords>Dijkstra, shortest path, DAA, algorithms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